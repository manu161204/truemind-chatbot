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7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8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8A160-391F-4CE7-9E60-939F4BE69CB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0B48B-7E58-43F6-9891-14218BF0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2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F15CE08-B39F-42A6-B19B-374ED7F7FF68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351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A47D-75D9-45D8-B56C-8FAFFA93EAD6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74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292D-00E9-4D6A-A425-77A20F46B5BE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6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62B63-E1BD-4357-910C-5A0AA743F18E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5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4F25F-7FFF-45D5-AE2B-B5B403F77D89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7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495B6-E2B2-459F-92F3-111E9BF13997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2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29CA-6039-4392-BA87-7305B1A5B1C2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0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08B5-C3E5-428F-B50F-1E2C5930FCEA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3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1A7B-F0CF-443E-AA4E-FE137E34218D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929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1C70-A99E-45CA-86FC-9C92E80B7CE2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0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2EAC-23C9-4E8C-8D16-5C4A6392B293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Review-III - 25th April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56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65311D4E-75BE-473F-BA4F-574E42E38629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Major Project Review-III - 25th April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727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209800" y="27181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3000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TrueMind</a:t>
            </a:r>
            <a:r>
              <a:rPr lang="en-US" sz="30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AI: A RAG-Based Mental Health Chatbot for Grounded and Ethical Information Support</a:t>
            </a:r>
            <a:endParaRPr sz="28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6672095" y="4219345"/>
            <a:ext cx="4605300" cy="28367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Aft>
                <a:spcPts val="0"/>
              </a:spcAft>
              <a:buClr>
                <a:schemeClr val="dk1"/>
              </a:buClr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Batch ID: </a:t>
            </a:r>
            <a:r>
              <a:rPr lang="en-IN" spc="-10" dirty="0">
                <a:solidFill>
                  <a:srgbClr val="878787"/>
                </a:solidFill>
                <a:latin typeface="Times New Roman"/>
                <a:cs typeface="Times New Roman"/>
              </a:rPr>
              <a:t>BT26AIMLA014</a:t>
            </a:r>
            <a:endParaRPr dirty="0"/>
          </a:p>
          <a:p>
            <a:pPr marL="476250" marR="5080" indent="-456565">
              <a:lnSpc>
                <a:spcPct val="107800"/>
              </a:lnSpc>
              <a:spcBef>
                <a:spcPts val="100"/>
              </a:spcBef>
            </a:pP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Student</a:t>
            </a:r>
            <a:r>
              <a:rPr lang="en-IN" sz="1400" spc="-2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Reg.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No: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spc="-10" dirty="0">
                <a:solidFill>
                  <a:srgbClr val="878787"/>
                </a:solidFill>
                <a:latin typeface="Times New Roman"/>
                <a:cs typeface="Times New Roman"/>
              </a:rPr>
              <a:t>RA2211026030035 </a:t>
            </a:r>
          </a:p>
          <a:p>
            <a:pPr marL="476250" marR="5080" indent="-456565">
              <a:lnSpc>
                <a:spcPct val="107800"/>
              </a:lnSpc>
              <a:spcBef>
                <a:spcPts val="100"/>
              </a:spcBef>
            </a:pP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Student</a:t>
            </a:r>
            <a:r>
              <a:rPr lang="en-IN" sz="1400" spc="-4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r>
              <a:rPr lang="en-IN" sz="1400" spc="-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Name:</a:t>
            </a:r>
            <a:r>
              <a:rPr lang="en-IN" sz="1400" spc="-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Ekansh</a:t>
            </a:r>
            <a:r>
              <a:rPr lang="en-IN" sz="1400" spc="-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Jain</a:t>
            </a:r>
          </a:p>
          <a:p>
            <a:pPr marL="476250" marR="5080" indent="-456565">
              <a:lnSpc>
                <a:spcPct val="107800"/>
              </a:lnSpc>
              <a:spcBef>
                <a:spcPts val="100"/>
              </a:spcBef>
            </a:pP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Student</a:t>
            </a:r>
            <a:r>
              <a:rPr lang="en-IN" sz="1400" spc="-25" dirty="0">
                <a:solidFill>
                  <a:srgbClr val="878787"/>
                </a:solidFill>
                <a:latin typeface="Times New Roman"/>
                <a:cs typeface="Times New Roman"/>
              </a:rPr>
              <a:t> 2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Reg.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No: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spc="-10" dirty="0">
                <a:solidFill>
                  <a:srgbClr val="878787"/>
                </a:solidFill>
                <a:latin typeface="Times New Roman"/>
                <a:cs typeface="Times New Roman"/>
              </a:rPr>
              <a:t>RA2211026030051</a:t>
            </a:r>
          </a:p>
          <a:p>
            <a:pPr marL="476250" marR="5080" indent="-456565">
              <a:lnSpc>
                <a:spcPct val="107800"/>
              </a:lnSpc>
              <a:spcBef>
                <a:spcPts val="100"/>
              </a:spcBef>
            </a:pP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Student</a:t>
            </a:r>
            <a:r>
              <a:rPr lang="en-IN" sz="1400" spc="-45" dirty="0">
                <a:solidFill>
                  <a:srgbClr val="878787"/>
                </a:solidFill>
                <a:latin typeface="Times New Roman"/>
                <a:cs typeface="Times New Roman"/>
              </a:rPr>
              <a:t> 2</a:t>
            </a:r>
            <a:r>
              <a:rPr lang="en-IN" sz="1400" spc="-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Name:</a:t>
            </a:r>
            <a:r>
              <a:rPr lang="en-IN" sz="1400" spc="-40" dirty="0">
                <a:solidFill>
                  <a:srgbClr val="878787"/>
                </a:solidFill>
                <a:latin typeface="Times New Roman"/>
                <a:cs typeface="Times New Roman"/>
              </a:rPr>
              <a:t> Dev Purohit</a:t>
            </a:r>
            <a:endParaRPr lang="en-IN" sz="1400" dirty="0">
              <a:latin typeface="Times New Roman"/>
              <a:cs typeface="Times New Roman"/>
            </a:endParaRPr>
          </a:p>
          <a:p>
            <a:pPr marL="476250" marR="5080" indent="-456565">
              <a:lnSpc>
                <a:spcPct val="107800"/>
              </a:lnSpc>
              <a:spcBef>
                <a:spcPts val="100"/>
              </a:spcBef>
            </a:pP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Student</a:t>
            </a:r>
            <a:r>
              <a:rPr lang="en-IN" sz="1400" spc="-25" dirty="0">
                <a:solidFill>
                  <a:srgbClr val="878787"/>
                </a:solidFill>
                <a:latin typeface="Times New Roman"/>
                <a:cs typeface="Times New Roman"/>
              </a:rPr>
              <a:t> 3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Reg.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No: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spc="-10" dirty="0">
                <a:solidFill>
                  <a:srgbClr val="878787"/>
                </a:solidFill>
                <a:latin typeface="Times New Roman"/>
                <a:cs typeface="Times New Roman"/>
              </a:rPr>
              <a:t>RA2211026030055 </a:t>
            </a:r>
          </a:p>
          <a:p>
            <a:pPr marL="476250" marR="5080" indent="-456565">
              <a:lnSpc>
                <a:spcPct val="107800"/>
              </a:lnSpc>
              <a:spcBef>
                <a:spcPts val="100"/>
              </a:spcBef>
            </a:pP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Student</a:t>
            </a:r>
            <a:r>
              <a:rPr lang="en-IN" sz="1400" spc="-45" dirty="0">
                <a:solidFill>
                  <a:srgbClr val="878787"/>
                </a:solidFill>
                <a:latin typeface="Times New Roman"/>
                <a:cs typeface="Times New Roman"/>
              </a:rPr>
              <a:t> 3</a:t>
            </a:r>
            <a:r>
              <a:rPr lang="en-IN" sz="1400" spc="-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Name: Manu Gaur</a:t>
            </a:r>
            <a:endParaRPr lang="en-IN" sz="1400" dirty="0">
              <a:latin typeface="Times New Roman"/>
              <a:cs typeface="Times New Roman"/>
            </a:endParaRPr>
          </a:p>
          <a:p>
            <a:pPr marL="476250" marR="5080" indent="-456565">
              <a:lnSpc>
                <a:spcPct val="107800"/>
              </a:lnSpc>
              <a:spcBef>
                <a:spcPts val="100"/>
              </a:spcBef>
            </a:pP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Student</a:t>
            </a:r>
            <a:r>
              <a:rPr lang="en-IN" sz="1400" spc="-25" dirty="0">
                <a:solidFill>
                  <a:srgbClr val="878787"/>
                </a:solidFill>
                <a:latin typeface="Times New Roman"/>
                <a:cs typeface="Times New Roman"/>
              </a:rPr>
              <a:t> 4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Reg.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No:</a:t>
            </a:r>
            <a:r>
              <a:rPr lang="en-IN" sz="1400" spc="-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spc="-10" dirty="0">
                <a:solidFill>
                  <a:srgbClr val="878787"/>
                </a:solidFill>
                <a:latin typeface="Times New Roman"/>
                <a:cs typeface="Times New Roman"/>
              </a:rPr>
              <a:t>RA2211026030098 </a:t>
            </a:r>
          </a:p>
          <a:p>
            <a:pPr marL="476250" marR="5080" indent="-456565">
              <a:lnSpc>
                <a:spcPct val="107800"/>
              </a:lnSpc>
              <a:spcBef>
                <a:spcPts val="100"/>
              </a:spcBef>
            </a:pP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Student</a:t>
            </a:r>
            <a:r>
              <a:rPr lang="en-IN" sz="1400" spc="-45" dirty="0">
                <a:solidFill>
                  <a:srgbClr val="878787"/>
                </a:solidFill>
                <a:latin typeface="Times New Roman"/>
                <a:cs typeface="Times New Roman"/>
              </a:rPr>
              <a:t> 4</a:t>
            </a:r>
            <a:r>
              <a:rPr lang="en-IN" sz="1400" spc="-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IN" sz="1400" dirty="0">
                <a:solidFill>
                  <a:srgbClr val="878787"/>
                </a:solidFill>
                <a:latin typeface="Times New Roman"/>
                <a:cs typeface="Times New Roman"/>
              </a:rPr>
              <a:t>Name:</a:t>
            </a:r>
            <a:r>
              <a:rPr lang="en-IN" sz="1400" spc="-40" dirty="0">
                <a:solidFill>
                  <a:srgbClr val="878787"/>
                </a:solidFill>
                <a:latin typeface="Times New Roman"/>
                <a:cs typeface="Times New Roman"/>
              </a:rPr>
              <a:t> Animesh Sharma</a:t>
            </a:r>
            <a:endParaRPr lang="en-IN" sz="1400" dirty="0">
              <a:latin typeface="Times New Roman"/>
              <a:cs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1235" y="13095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708949" y="19887"/>
            <a:ext cx="10774101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 </a:t>
            </a:r>
            <a:endParaRPr sz="2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I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REVIEW-III PRESENTATION</a:t>
            </a:r>
          </a:p>
          <a:p>
            <a:pPr algn="ctr">
              <a:buClr>
                <a:srgbClr val="000000"/>
              </a:buClr>
              <a:buSzPts val="1800"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21CSP401L MAJOR PROJECT / 21CSP402L - MAJOR PROJECT with 21CSP403L INTERNSHIP#</a:t>
            </a:r>
          </a:p>
          <a:p>
            <a:pPr lvl="0" algn="ctr">
              <a:buSzPts val="1800"/>
            </a:pPr>
            <a:endParaRPr lang="en-US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1800"/>
            </a:pP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M.Tech</a:t>
            </a:r>
            <a:endParaRPr lang="en-US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Year: 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69449" y="4661837"/>
            <a:ext cx="34719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13970" marR="5080" indent="-1905">
              <a:lnSpc>
                <a:spcPct val="133200"/>
              </a:lnSpc>
              <a:spcBef>
                <a:spcPts val="100"/>
              </a:spcBef>
            </a:pPr>
            <a:r>
              <a:rPr lang="en-US" sz="3200" dirty="0">
                <a:solidFill>
                  <a:srgbClr val="878787"/>
                </a:solidFill>
                <a:latin typeface="Times New Roman"/>
                <a:cs typeface="Times New Roman"/>
              </a:rPr>
              <a:t>Guide</a:t>
            </a:r>
            <a:r>
              <a:rPr lang="en-US" sz="3200" spc="-4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878787"/>
                </a:solidFill>
                <a:latin typeface="Times New Roman"/>
                <a:cs typeface="Times New Roman"/>
              </a:rPr>
              <a:t>name:</a:t>
            </a:r>
            <a:r>
              <a:rPr lang="en-US" sz="3200" spc="-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US" sz="3200" spc="-10" dirty="0">
                <a:solidFill>
                  <a:srgbClr val="878787"/>
                </a:solidFill>
                <a:latin typeface="Times New Roman"/>
                <a:cs typeface="Times New Roman"/>
              </a:rPr>
              <a:t>Dr.</a:t>
            </a:r>
            <a:r>
              <a:rPr lang="en-US" sz="3200" spc="-3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878787"/>
                </a:solidFill>
                <a:latin typeface="Times New Roman"/>
                <a:cs typeface="Times New Roman"/>
              </a:rPr>
              <a:t>Oshin</a:t>
            </a:r>
            <a:r>
              <a:rPr lang="en-US" sz="3200" spc="-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lang="en-US" sz="3200" spc="-10" dirty="0">
                <a:solidFill>
                  <a:srgbClr val="878787"/>
                </a:solidFill>
                <a:latin typeface="Times New Roman"/>
                <a:cs typeface="Times New Roman"/>
              </a:rPr>
              <a:t>Sharma Designation: Associate Professor</a:t>
            </a:r>
            <a:endParaRPr lang="en-US" sz="320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905"/>
              </a:spcBef>
            </a:pPr>
            <a:r>
              <a:rPr lang="en-US" sz="3200" spc="-10" dirty="0">
                <a:solidFill>
                  <a:srgbClr val="878787"/>
                </a:solidFill>
                <a:latin typeface="Times New Roman"/>
                <a:cs typeface="Times New Roman"/>
              </a:rPr>
              <a:t>Department: Department of Computer Science and Engineering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6BB2D-D71C-3B5C-9C50-5C02014D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AF234-417C-AE46-CF73-C7C4AF31F881}"/>
              </a:ext>
            </a:extLst>
          </p:cNvPr>
          <p:cNvSpPr txBox="1"/>
          <p:nvPr/>
        </p:nvSpPr>
        <p:spPr>
          <a:xfrm>
            <a:off x="2403093" y="646878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Major Project Review-III - 25th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~1 billion people globally affected by mental disorders (WHO, 2022); most lack access to professional care due to stigma, cost, and shortage of professionals</a:t>
            </a:r>
          </a:p>
          <a:p>
            <a:pPr marL="0" indent="0">
              <a:buNone/>
            </a:pPr>
            <a:r>
              <a:rPr dirty="0"/>
              <a:t>• LLMs offer fluent conversational interfaces but pose risks of hallucination and opacity in sensitive mental health contexts</a:t>
            </a:r>
          </a:p>
          <a:p>
            <a:pPr marL="0" indent="0">
              <a:buNone/>
            </a:pPr>
            <a:r>
              <a:rPr dirty="0"/>
              <a:t>• TrueMind AI is a RAG-based chatbot that grounds responses in authoritative mental health documents to provide safe, traceable information support</a:t>
            </a:r>
          </a:p>
          <a:p>
            <a:pPr marL="0" indent="0">
              <a:buNone/>
            </a:pPr>
            <a:r>
              <a:rPr dirty="0"/>
              <a:t>• Domain: Digital Mental Health / Conversational AI / Psychoeducation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FA715-A6BE-AF5F-0403-E0AC7A6F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C3D1074B-E001-B0A7-EC68-5C855B66E1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318" y="585216"/>
            <a:ext cx="9720072" cy="1499616"/>
          </a:xfrm>
        </p:spPr>
        <p:txBody>
          <a:bodyPr/>
          <a:lstStyle/>
          <a:p>
            <a:r>
              <a:rPr lang="en-IN" sz="3000" dirty="0">
                <a:solidFill>
                  <a:srgbClr val="C00000"/>
                </a:solidFill>
              </a:rPr>
              <a:t>Problem </a:t>
            </a:r>
            <a:r>
              <a:rPr sz="3000" dirty="0">
                <a:solidFill>
                  <a:srgbClr val="C00000"/>
                </a:solidFill>
              </a:rP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Unconstrained LLMs risk hallucination and produce unverifiable claims in mental health contexts</a:t>
            </a:r>
          </a:p>
          <a:p>
            <a:pPr marL="0" indent="0">
              <a:buNone/>
            </a:pPr>
            <a:r>
              <a:rPr dirty="0"/>
              <a:t>• Few existing systems combine architectural grounding with explicit conversational safety enforcement</a:t>
            </a:r>
          </a:p>
          <a:p>
            <a:pPr marL="0" indent="0">
              <a:buNone/>
            </a:pPr>
            <a:r>
              <a:rPr dirty="0"/>
              <a:t>• Standardized, ethically-safe evaluation methods for LLM-driven mental health agents are limited</a:t>
            </a:r>
          </a:p>
          <a:p>
            <a:pPr marL="0" indent="0">
              <a:buNone/>
            </a:pPr>
            <a:r>
              <a:rPr dirty="0"/>
              <a:t>• Goal: Design an information-support chatbot that grounds responses in curated knowledge, maintains non-diagnostic language, detects crises, and supports auditability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949DA-7B34-BB7F-DC8E-E9FA3D00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E3DC071-AED6-6500-96F9-BD59DA757F0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Build a practical RAG pipeline for grounding LLM outputs against curated mental health documents</a:t>
            </a:r>
          </a:p>
          <a:p>
            <a:pPr marL="0" indent="0">
              <a:buNone/>
            </a:pPr>
            <a:r>
              <a:rPr dirty="0"/>
              <a:t>• Implement a safety enforcement layer with crisis detection and provenance logging</a:t>
            </a:r>
          </a:p>
          <a:p>
            <a:pPr marL="0" indent="0">
              <a:buNone/>
            </a:pPr>
            <a:r>
              <a:rPr dirty="0"/>
              <a:t>• Enforce non-diagnostic, referral-based conversational language through architectural constraints</a:t>
            </a:r>
          </a:p>
          <a:p>
            <a:pPr marL="0" indent="0">
              <a:buNone/>
            </a:pPr>
            <a:r>
              <a:rPr dirty="0"/>
              <a:t>• Develop a reproducible evaluation method using simulated dialogues, expert panels, and audit checklists</a:t>
            </a:r>
          </a:p>
          <a:p>
            <a:pPr marL="0" indent="0">
              <a:buNone/>
            </a:pPr>
            <a:r>
              <a:rPr dirty="0"/>
              <a:t>• Deliver a safe, transparent, and auditable mental health information support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B70CB-CBB5-CD44-C62F-8AE7BE38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E271DF4-D25A-9382-5FF6-C1B2479BCF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Ref | Author | Method | Focus | Limitation</a:t>
            </a:r>
          </a:p>
          <a:p>
            <a:pPr marL="0" indent="0">
              <a:buNone/>
            </a:pPr>
            <a:r>
              <a:rPr lang="en-US" sz="1200" dirty="0"/>
              <a:t>[1] Vaidyam et al., 2019 | Systematic Review | Mental health chatbots | Limited architectural guidance</a:t>
            </a:r>
          </a:p>
          <a:p>
            <a:pPr marL="0" indent="0">
              <a:buNone/>
            </a:pPr>
            <a:r>
              <a:rPr lang="en-US" sz="1200" dirty="0"/>
              <a:t>[2] Integrative Review | Conversational design | MH chatbot recommendations | No RAG integration</a:t>
            </a:r>
          </a:p>
          <a:p>
            <a:pPr marL="0" indent="0">
              <a:buNone/>
            </a:pPr>
            <a:r>
              <a:rPr lang="en-US" sz="1200" dirty="0"/>
              <a:t>[3] Empirical Eval. | LLM-based | Behavioral activation | Failure in complex risk scenarios</a:t>
            </a:r>
          </a:p>
          <a:p>
            <a:pPr marL="0" indent="0">
              <a:buNone/>
            </a:pPr>
            <a:r>
              <a:rPr lang="en-US" sz="1200" dirty="0"/>
              <a:t>[4] Checklist | Operational audit | Trustworthy MH chatbots | No implementation pipeline</a:t>
            </a:r>
          </a:p>
          <a:p>
            <a:pPr marL="0" indent="0">
              <a:buNone/>
            </a:pPr>
            <a:r>
              <a:rPr lang="en-US" sz="1200" dirty="0"/>
              <a:t>[5] Fitzpatrick et al., 2017 | CBT delivery | Woebot for young adults | Rule-based, no grounding</a:t>
            </a:r>
          </a:p>
          <a:p>
            <a:pPr marL="0" indent="0">
              <a:buNone/>
            </a:pPr>
            <a:r>
              <a:rPr lang="en-US" sz="1200" dirty="0"/>
              <a:t>[6] WHO, 2022 | Report | Global MH statistics | Policy-level, no system design</a:t>
            </a:r>
          </a:p>
          <a:p>
            <a:pPr marL="0" indent="0">
              <a:buNone/>
            </a:pPr>
            <a:r>
              <a:rPr lang="en-US" sz="1200" dirty="0"/>
              <a:t>[7] Event Log Analysis, 2023 | Log analysis | MH chatbot usage | No safety enforcement</a:t>
            </a:r>
          </a:p>
          <a:p>
            <a:pPr marL="0" indent="0">
              <a:buNone/>
            </a:pPr>
            <a:r>
              <a:rPr lang="en-US" sz="1200" dirty="0"/>
              <a:t>[8] Nature, 2025 | Chatbot agents | Suicidal ideation detection | Limited provenance</a:t>
            </a:r>
          </a:p>
          <a:p>
            <a:pPr marL="0" indent="0">
              <a:buNone/>
            </a:pPr>
            <a:r>
              <a:rPr lang="en-US" sz="1200" dirty="0"/>
              <a:t>[9] AI Chatbot, 2024 | AI-based | Student MH support | No retrieval grounding</a:t>
            </a:r>
          </a:p>
          <a:p>
            <a:pPr marL="0" indent="0">
              <a:buNone/>
            </a:pPr>
            <a:r>
              <a:rPr lang="en-US" sz="1200" b="1" dirty="0"/>
              <a:t>Identified Gap: No system combines RAG-based grounding + crisis detection + provenance logging + non-diagnostic enforcement in a single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A45DE-6762-6585-FB93-960F8F1E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3E9D54C7-13AD-4F54-8433-9ED942F3C0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Rule-Based Systems: Predictable but low contextuality; rigid scripted conversation trees with no flexibility</a:t>
            </a:r>
          </a:p>
          <a:p>
            <a:pPr marL="0" indent="0">
              <a:buNone/>
            </a:pPr>
            <a:r>
              <a:rPr dirty="0"/>
              <a:t>• Hybrid Systems: Combined scripted pathways with limited NLU but still constrained by pre-defined logic</a:t>
            </a:r>
          </a:p>
          <a:p>
            <a:pPr marL="0" indent="0">
              <a:buNone/>
            </a:pPr>
            <a:r>
              <a:rPr dirty="0"/>
              <a:t>• LLM-Only Systems: Fluent and contextually aware but prone to hallucination and opacity; no source grounding or provenance</a:t>
            </a:r>
          </a:p>
          <a:p>
            <a:pPr marL="0" indent="0">
              <a:buNone/>
            </a:pPr>
            <a:r>
              <a:rPr dirty="0"/>
              <a:t>• Limitations: Safety treated as afterthought (post-hoc moderation), no crisis detection, no audit logging, risk of unverified medical advice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03C22-2BA9-8BD6-1030-6B64737A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7FB2F902-5609-3297-0CB6-54E46AF47B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TrueMind AI: An integrated multi-level RAG architecture combining knowledge retrieval, safe generation, and ethical orchestration</a:t>
            </a:r>
          </a:p>
          <a:p>
            <a:pPr marL="0" indent="0">
              <a:buNone/>
            </a:pPr>
            <a:r>
              <a:rPr dirty="0"/>
              <a:t>• Key Innovation: Responses grounded in curated, authoritative PDF corpus (public health guidelines, clinical psychoeducation, credible non-profit materials)</a:t>
            </a:r>
          </a:p>
          <a:p>
            <a:pPr marL="0" indent="0">
              <a:buNone/>
            </a:pPr>
            <a:r>
              <a:rPr dirty="0"/>
              <a:t>• Safety orchestration layer enforces non-diagnostic framework, crisis detection, and provenance logging via architectural constraints</a:t>
            </a:r>
          </a:p>
          <a:p>
            <a:pPr marL="0" indent="0">
              <a:buNone/>
            </a:pPr>
            <a:r>
              <a:rPr dirty="0"/>
              <a:t>• Advantages: Significantly reduced hallucination, explicit source grounding with audit logs, high-recall crisis detection, and full provenance logging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62BD0-E2AD-F9BC-4F69-4783D82C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9DCC8050-CF8E-7B26-1B6A-BBF2B746B7E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05768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0" cy="1005840"/>
          </a:xfrm>
        </p:spPr>
        <p:txBody>
          <a:bodyPr>
            <a:normAutofit fontScale="25000" lnSpcReduction="20000"/>
          </a:bodyPr>
          <a:lstStyle/>
          <a:p>
            <a:r>
              <a:rPr sz="800" b="1" dirty="0"/>
              <a:t>Components:</a:t>
            </a:r>
          </a:p>
          <a:p>
            <a:r>
              <a:rPr sz="800" dirty="0"/>
              <a:t>1. Document Ingestion Layer: Curated mental health PDFs processed via OCR/text extraction</a:t>
            </a:r>
          </a:p>
          <a:p>
            <a:r>
              <a:rPr sz="800" dirty="0"/>
              <a:t>2. Chunking Engine: Paragraph-level + sliding window (150-400 tokens per chunk)</a:t>
            </a:r>
          </a:p>
          <a:p>
            <a:r>
              <a:rPr sz="800" dirty="0"/>
              <a:t>3. Embedding Layer: SBERT encoder generates L2-normalized dense vectors</a:t>
            </a:r>
          </a:p>
          <a:p>
            <a:r>
              <a:rPr sz="800" dirty="0"/>
              <a:t>4. Vector Database: Persistent index for ANN retrieval with metadata filtering</a:t>
            </a:r>
          </a:p>
          <a:p>
            <a:r>
              <a:rPr sz="800" dirty="0"/>
              <a:t>5. Retrieval Engine: Top-k (k=3-7) cosine similarity search with source recency filtering</a:t>
            </a:r>
          </a:p>
          <a:p>
            <a:r>
              <a:rPr sz="800" dirty="0"/>
              <a:t>6. Prompt Assembly: Structured template with system instructions + evidence + user query + constraints</a:t>
            </a:r>
          </a:p>
          <a:p>
            <a:r>
              <a:rPr sz="800" dirty="0"/>
              <a:t>7. LLM Generation: Groq API call with safety-constrained prompt</a:t>
            </a:r>
          </a:p>
          <a:p>
            <a:r>
              <a:rPr sz="800" dirty="0"/>
              <a:t>8. Safety Orchestration: Crisis detection, post-generation filters, provenance tagging, audit logging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BD502-436C-00D9-0A40-08019A0C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BCAC2F04-95CF-22FE-6B82-E1A4B802B4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96354" y="46364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1161288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AD2DB-E925-22C5-9F86-EFA58878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5934F25-B1C4-72ED-5D0F-7939705EF3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AC49119A-08C4-6E13-9EE0-4A5B9F215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417320"/>
            <a:ext cx="0" cy="77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Receive user query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Crisis keyword detection (if detected, escalate and terminate)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Embed query via transformer encoder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Top-k ANN retrieval + metadata filtering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Build prompt (evidence + safety rules + query)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6: LLM generate via Groq API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7: Apply safety filters + provenance tagging + audit log </a:t>
            </a:r>
          </a:p>
        </p:txBody>
      </p:sp>
      <p:pic>
        <p:nvPicPr>
          <p:cNvPr id="11" name="Picture 10" descr="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1732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Programming Language: Python</a:t>
            </a:r>
          </a:p>
          <a:p>
            <a:pPr marL="0" indent="0">
              <a:buNone/>
            </a:pPr>
            <a:r>
              <a:rPr dirty="0"/>
              <a:t>• Frameworks: LangChain / Custom RAG Pipeline</a:t>
            </a:r>
          </a:p>
          <a:p>
            <a:pPr marL="0" indent="0">
              <a:buNone/>
            </a:pPr>
            <a:r>
              <a:rPr dirty="0"/>
              <a:t>• Embedding Model: SBERT (Sentence-BERT)</a:t>
            </a:r>
          </a:p>
          <a:p>
            <a:pPr marL="0" indent="0">
              <a:buNone/>
            </a:pPr>
            <a:r>
              <a:rPr dirty="0"/>
              <a:t>• Vector Database: FAISS / Persistent Vector Index</a:t>
            </a:r>
          </a:p>
          <a:p>
            <a:pPr marL="0" indent="0">
              <a:buNone/>
            </a:pPr>
            <a:r>
              <a:rPr dirty="0"/>
              <a:t>• LLM API: Groq API</a:t>
            </a:r>
          </a:p>
          <a:p>
            <a:pPr marL="0" indent="0">
              <a:buNone/>
            </a:pPr>
            <a:r>
              <a:rPr dirty="0"/>
              <a:t>• Dataset Source: Curated authoritative mental health PDFs (public health guidelines, clinical psychoeducation, non-profit materials)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38EBA-0EC5-6401-0F55-2B2AE926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9EA168D3-F00A-7BC1-E271-16ECFAE9E7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Modules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Document Ingestion Module: PDF extraction, OCR, header/footer removal, text cleaning</a:t>
            </a:r>
          </a:p>
          <a:p>
            <a:pPr marL="0" indent="0">
              <a:buNone/>
            </a:pPr>
            <a:r>
              <a:rPr dirty="0"/>
              <a:t>• Chunking Module: Paragraph-level + sliding window segmentation (150-400 tokens)</a:t>
            </a:r>
          </a:p>
          <a:p>
            <a:pPr marL="0" indent="0">
              <a:buNone/>
            </a:pPr>
            <a:r>
              <a:rPr dirty="0"/>
              <a:t>• Embedding and Indexing Module: SBERT encoding, L2 normalization, vector DB storage</a:t>
            </a:r>
          </a:p>
          <a:p>
            <a:pPr marL="0" indent="0">
              <a:buNone/>
            </a:pPr>
            <a:r>
              <a:rPr dirty="0"/>
              <a:t>• Retrieval Module: Cosine similarity ANN search with metadata filtering</a:t>
            </a:r>
          </a:p>
          <a:p>
            <a:pPr marL="0" indent="0">
              <a:buNone/>
            </a:pPr>
            <a:r>
              <a:rPr dirty="0"/>
              <a:t>• Generation Module: Structured prompt assembly + Groq API LLM call</a:t>
            </a:r>
          </a:p>
          <a:p>
            <a:pPr marL="0" indent="0">
              <a:buNone/>
            </a:pPr>
            <a:r>
              <a:rPr dirty="0"/>
              <a:t>• Safety Orchestration Module: Crisis detection, post-generation filters, provenance tagging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F7E3-45D1-A2A4-E7F4-CA729409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6734DE98-7618-DE25-8DC7-205096C56A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8917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C00000"/>
                </a:solidFill>
              </a:rPr>
              <a:t>Algorithm &amp; Model Used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4A4D7-1249-0109-2C0F-5EE25963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DF21A8FB-AE69-82DF-D29F-25B7B74E42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l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40280"/>
            <a:ext cx="115214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Source: Curated corpus of authoritative mental health PDFs (public health guidelines, clinical psychoeducation materials, credible non-profit publications)</a:t>
            </a:r>
          </a:p>
          <a:p>
            <a:pPr marL="0" indent="0">
              <a:buNone/>
            </a:pPr>
            <a:r>
              <a:rPr dirty="0"/>
              <a:t>• Metadata per document: Title, Author(s), Source URL, Date of creation, Curator annotation notes</a:t>
            </a:r>
          </a:p>
          <a:p>
            <a:pPr marL="0" indent="0">
              <a:buNone/>
            </a:pPr>
            <a:r>
              <a:rPr dirty="0"/>
              <a:t>• Quality criteria: Authority, recency, neutral language, coverage of common conditions/coping strategies</a:t>
            </a:r>
          </a:p>
          <a:p>
            <a:pPr marL="0" indent="0">
              <a:buNone/>
            </a:pPr>
            <a:r>
              <a:rPr dirty="0"/>
              <a:t>• Data Preparation: Text extraction via OCR, header/footer removal, page number deletion, list normalization, paragraph-level + sliding window chunking (150-400 tokens)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69604-3472-2330-C7C9-F3DD28E1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8F15CF43-7553-514F-5E7C-67813C8EE0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D89E9-0586-BE67-9D0A-82165059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A26A-3B96-A77B-835C-B8C8B5F6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C00000"/>
                </a:solidFill>
              </a:rPr>
              <a:t>System Demonstration / Working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F522F-3B82-5DBB-9A4F-95798E8A1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0" cy="86868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sz="750"/>
              <a:t>User inputs query</a:t>
            </a:r>
            <a:endParaRPr dirty="0"/>
          </a:p>
          <a:p>
            <a:r>
              <a:rPr sz="750"/>
              <a:t>Crisis detection layer checks risk</a:t>
            </a:r>
          </a:p>
          <a:p>
            <a:r>
              <a:rPr sz="750"/>
              <a:t>Query embedding generated</a:t>
            </a:r>
          </a:p>
          <a:p>
            <a:r>
              <a:rPr sz="750"/>
              <a:t>Top-k relevant documents retrieved</a:t>
            </a:r>
          </a:p>
          <a:p>
            <a:r>
              <a:rPr sz="750"/>
              <a:t>Prompt built with evidence</a:t>
            </a:r>
          </a:p>
          <a:p>
            <a:r>
              <a:rPr sz="750"/>
              <a:t>LLM generates response</a:t>
            </a:r>
          </a:p>
          <a:p>
            <a:r>
              <a:rPr sz="750"/>
              <a:t>Safety layer validates</a:t>
            </a:r>
          </a:p>
          <a:p>
            <a:r>
              <a:rPr sz="750"/>
              <a:t>Final output with 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4E698-A161-B137-7B13-AD2BD3B2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DE1EE981-B7EF-3EC0-C1D0-A7BD42F30A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167129"/>
            <a:ext cx="1188720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57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>
                <a:solidFill>
                  <a:srgbClr val="C00000"/>
                </a:solidFill>
              </a:rPr>
              <a:t>EXPERIMENTAL RESULTS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03120"/>
            <a:ext cx="117500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>
                <a:solidFill>
                  <a:srgbClr val="C00000"/>
                </a:solidFill>
              </a:rPr>
              <a:t>RESULTS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114800"/>
            <a:ext cx="5486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Key Insight: RAG improves safety + reduces hallucination significantly</a:t>
            </a:r>
          </a:p>
        </p:txBody>
      </p:sp>
      <p:pic>
        <p:nvPicPr>
          <p:cNvPr id="5" name="Picture 4" descr="discu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57400"/>
            <a:ext cx="115214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dirty="0">
                <a:solidFill>
                  <a:srgbClr val="C00000"/>
                </a:solidFill>
              </a:rPr>
              <a:t>Innovation &amp; Contribution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DEF4-9C88-5761-F507-0D53715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060FEF51-7DFB-F6BA-5228-2038139364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19EA30D0-BE6E-818D-C042-B27523A4F2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486928"/>
            <a:ext cx="5608330" cy="3621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RAG-based grounding for mental health LLM outputs with embedded safety enforcement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Crisis detection + provenance logging + non-diagnostic constraints as architectural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Reproducible evaluation framework with simulated dialogues and expert panels</a:t>
            </a:r>
          </a:p>
          <a:p>
            <a:r>
              <a:rPr lang="en-US" sz="1800" b="1" dirty="0"/>
              <a:t>Individual Contribution Role mentioned here</a:t>
            </a:r>
            <a:endParaRPr lang="en-US" sz="1800" dirty="0"/>
          </a:p>
          <a:p>
            <a:r>
              <a:rPr lang="en-US" sz="1800" dirty="0"/>
              <a:t>Ekansh Jain - System Architecture, RAG Pipeline Design</a:t>
            </a:r>
          </a:p>
          <a:p>
            <a:r>
              <a:rPr lang="en-US" sz="1800" dirty="0"/>
              <a:t>Dev Purohit - Safety Orchestration, Crisis Detection </a:t>
            </a:r>
          </a:p>
          <a:p>
            <a:r>
              <a:rPr lang="en-US" sz="1800" dirty="0"/>
              <a:t>Manu Gaur - Embedding, Vector DB, Retrieval Engine</a:t>
            </a:r>
          </a:p>
          <a:p>
            <a:r>
              <a:rPr lang="en-US" sz="1800" dirty="0"/>
              <a:t>Animesh Sharma - Evaluation Framework, Audit Checklist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dirty="0">
                <a:solidFill>
                  <a:srgbClr val="C00000"/>
                </a:solidFill>
              </a:rPr>
              <a:t>Research Paper Details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A2CDF-B7B1-7449-EB4C-0213A004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677E5E7-111D-A415-12AC-369846758C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00BD164-A01D-62B8-113F-657A283AED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6174" y="2248238"/>
            <a:ext cx="998169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TrueMind AI: A Retrieval-Augmented Generation (RAG) Mental Health Chatbot for Grounded and Ethical Information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Ekansh Jain, Dev Purohit, Manu Gaur, Animesh Sharma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of CSE, SRM Institute of Science and Technology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Date: 2025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Indexing (Scopus/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First page attached separately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Publication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Submitted/Accepted/Published </a:t>
            </a:r>
          </a:p>
          <a:p>
            <a:pPr marL="0" indent="0">
              <a:buNone/>
            </a:pPr>
            <a:r>
              <a:rPr lang="en-US" dirty="0"/>
              <a:t>Any Conference Certificate proof</a:t>
            </a:r>
          </a:p>
          <a:p>
            <a:pPr marL="0" indent="0">
              <a:buNone/>
            </a:pPr>
            <a:r>
              <a:rPr lang="en-US" dirty="0"/>
              <a:t>Attach the necessary proofs. </a:t>
            </a:r>
          </a:p>
          <a:p>
            <a:pPr lvl="8"/>
            <a:r>
              <a:rPr lang="en-US" sz="2400" b="1" dirty="0"/>
              <a:t>Acceptance Proof (If Available)</a:t>
            </a:r>
          </a:p>
          <a:p>
            <a:pPr lvl="8"/>
            <a:r>
              <a:rPr lang="en-US" sz="2400" dirty="0"/>
              <a:t>Acceptance email screenshot </a:t>
            </a:r>
          </a:p>
          <a:p>
            <a:pPr marL="1225296" lvl="8" indent="0">
              <a:buNone/>
            </a:pPr>
            <a:r>
              <a:rPr lang="en-US" sz="2400" dirty="0"/>
              <a:t> </a:t>
            </a:r>
          </a:p>
          <a:p>
            <a:pPr lvl="8"/>
            <a:r>
              <a:rPr lang="en-US" sz="2400" b="1" dirty="0"/>
              <a:t>Registration Proof</a:t>
            </a:r>
          </a:p>
          <a:p>
            <a:pPr lvl="8"/>
            <a:r>
              <a:rPr lang="en-US" sz="2400" dirty="0"/>
              <a:t>Conference registration receipt /Payment proof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CCFEE-EBB1-2FB9-6A83-FEA80A68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591A32A8-78CF-2D17-951E-B7C62E27E6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63641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>
                <a:solidFill>
                  <a:srgbClr val="C00000"/>
                </a:solidFill>
              </a:rPr>
              <a:t>Limitations of Current System &amp; </a:t>
            </a:r>
            <a:r>
              <a:rPr sz="3000" dirty="0">
                <a:solidFill>
                  <a:srgbClr val="C00000"/>
                </a:solidFill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Limitations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Corpus limited to curated PDFs; does not cover all mental health topics</a:t>
            </a:r>
          </a:p>
          <a:p>
            <a:pPr marL="0" indent="0">
              <a:buNone/>
            </a:pPr>
            <a:r>
              <a:rPr lang="en-US" dirty="0"/>
              <a:t>Vector DB scalability with growing document corpus needs optimization</a:t>
            </a:r>
          </a:p>
          <a:p>
            <a:pPr marL="0" indent="0">
              <a:buNone/>
            </a:pPr>
            <a:r>
              <a:rPr lang="en-US" dirty="0"/>
              <a:t>Retrieval relevance depends on chunk size and embedding quality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Challenges Faced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Limited to English-language documents currently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Groq API latency and rate limiting during high-volume queries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Balancing safety constraints with conversational naturalness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E23EF-4429-99B6-D9A8-E04FE9E6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FD91A46D-E09C-03D4-2772-AAAEF1EF48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dirty="0">
                <a:solidFill>
                  <a:srgbClr val="C00000"/>
                </a:solidFill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Psychoeducation support for individuals seeking mental health information </a:t>
            </a:r>
          </a:p>
          <a:p>
            <a:r>
              <a:rPr lang="en-US" dirty="0"/>
              <a:t>Complementary tool for counseling centers, universities, and NGOs </a:t>
            </a:r>
          </a:p>
          <a:p>
            <a:r>
              <a:rPr lang="en-US" dirty="0"/>
              <a:t>Triage and crisis escalation in digital health platforms; employee wellness programs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06FCA-20B7-AA33-B8CE-E4DD0CA9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C73E790E-6CC8-F106-1BA3-97A7462639E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E3ED-105A-0F03-4A71-3A84E0E6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B1DB-504F-B4E1-EEAE-4E47C5F4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>
                <a:solidFill>
                  <a:srgbClr val="C00000"/>
                </a:solidFill>
              </a:rPr>
              <a:t>Conclusion &amp; Future Work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3853-6F1E-0664-0E03-C229B892E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Conclusion </a:t>
            </a:r>
          </a:p>
          <a:p>
            <a:r>
              <a:rPr lang="en-US" dirty="0"/>
              <a:t>Successfully built a RAG pipeline grounding LLM output in authoritative mental health documents</a:t>
            </a:r>
          </a:p>
          <a:p>
            <a:r>
              <a:rPr lang="en-US" dirty="0"/>
              <a:t>Demonstrated reduced hallucination, high transparency, and effective crisis detection vs alternatives</a:t>
            </a:r>
          </a:p>
          <a:p>
            <a:r>
              <a:rPr lang="en-US" dirty="0">
                <a:solidFill>
                  <a:srgbClr val="C00000"/>
                </a:solidFill>
              </a:rPr>
              <a:t>Future Work</a:t>
            </a:r>
            <a:endParaRPr lang="en-US" dirty="0"/>
          </a:p>
          <a:p>
            <a:r>
              <a:rPr lang="en-US" dirty="0"/>
              <a:t>Multilingual support, real-time document updates, user personalization </a:t>
            </a:r>
          </a:p>
          <a:p>
            <a:r>
              <a:rPr lang="en-US" dirty="0"/>
              <a:t>Cloud-based vector DB scaling, multi-tenant deployment </a:t>
            </a:r>
          </a:p>
          <a:p>
            <a:r>
              <a:rPr lang="en-US" dirty="0"/>
              <a:t>Integration with telehealth platforms, institutional deployment after expert validation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7D0AB-580F-F979-8FAE-235F0025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E9CB6AA6-CD3A-CE2B-8653-CA85BA4CDBB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3147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[1] A. N. Vaidyam et al., Chatbots and Conversational Agents in Mental Health, Psychiatric Services, 2019.</a:t>
            </a:r>
          </a:p>
          <a:p>
            <a:r>
              <a:rPr dirty="0"/>
              <a:t>[2] Integrative Review: Recommendations for MH Chatbot Conversations. </a:t>
            </a:r>
            <a:endParaRPr lang="en-IN" dirty="0"/>
          </a:p>
          <a:p>
            <a:r>
              <a:rPr dirty="0"/>
              <a:t>[3] Empirical Evaluation: LLM-based Behavioral Activation. </a:t>
            </a:r>
            <a:endParaRPr lang="en-IN" dirty="0"/>
          </a:p>
          <a:p>
            <a:r>
              <a:rPr dirty="0"/>
              <a:t>[4] Operational Checklist for Trustworthy MH Chatbots. </a:t>
            </a:r>
            <a:endParaRPr lang="en-IN" dirty="0"/>
          </a:p>
          <a:p>
            <a:r>
              <a:rPr dirty="0"/>
              <a:t>[5] Fitzpatrick et al., Delivering CBT via Woebot, J. Med. Internet Res., 2017. </a:t>
            </a:r>
            <a:endParaRPr lang="en-IN" dirty="0"/>
          </a:p>
          <a:p>
            <a:r>
              <a:rPr dirty="0"/>
              <a:t>[6] WHO, World Mental Health Report, 2022. </a:t>
            </a:r>
            <a:endParaRPr lang="en-IN" dirty="0"/>
          </a:p>
          <a:p>
            <a:r>
              <a:rPr dirty="0"/>
              <a:t>[7] MH Chatbot User Event Log Analysis, 2023. </a:t>
            </a:r>
            <a:endParaRPr lang="en-IN" dirty="0"/>
          </a:p>
          <a:p>
            <a:r>
              <a:rPr dirty="0"/>
              <a:t>[8] Performance of MH chatbot agents in detecting suicidal ideation, Nature, 2025. [9] AI-Based Chatbot for Student MH Support, 2024.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DA4F3-FB44-B652-8BA7-D1D22368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8E3FF31-24E0-ECF0-CAA6-731C8967D5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8624" y="2559564"/>
            <a:ext cx="5901459" cy="1053295"/>
          </a:xfrm>
        </p:spPr>
        <p:txBody>
          <a:bodyPr>
            <a:normAutofit/>
          </a:bodyPr>
          <a:lstStyle/>
          <a:p>
            <a:r>
              <a:rPr sz="3000" b="1" dirty="0">
                <a:solidFill>
                  <a:srgbClr val="C00000"/>
                </a:solidFill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6AE65-0013-B646-602B-BBD32F7C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C137661-8A85-F0E4-2154-26A2CDE899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168</TotalTime>
  <Words>1656</Words>
  <Application>Microsoft Office PowerPoint</Application>
  <PresentationFormat>Widescreen</PresentationFormat>
  <Paragraphs>191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Times New Roman</vt:lpstr>
      <vt:lpstr>Tw Cen MT</vt:lpstr>
      <vt:lpstr>Tw Cen MT Condensed</vt:lpstr>
      <vt:lpstr>Wingdings</vt:lpstr>
      <vt:lpstr>Wingdings 3</vt:lpstr>
      <vt:lpstr>Integral</vt:lpstr>
      <vt:lpstr>TrueMind AI: A RAG-Based Mental Health Chatbot for Grounded and Ethical Information Support</vt:lpstr>
      <vt:lpstr>Project Overview</vt:lpstr>
      <vt:lpstr>Problem Statement</vt:lpstr>
      <vt:lpstr>Project Objectives</vt:lpstr>
      <vt:lpstr>Literature Review</vt:lpstr>
      <vt:lpstr>Existing System</vt:lpstr>
      <vt:lpstr>Proposed System</vt:lpstr>
      <vt:lpstr>System Architecture</vt:lpstr>
      <vt:lpstr>Methodology</vt:lpstr>
      <vt:lpstr>Tools &amp; Technologies</vt:lpstr>
      <vt:lpstr>Modules Implemented</vt:lpstr>
      <vt:lpstr>Algorithm &amp; Model Used</vt:lpstr>
      <vt:lpstr>Dataset Description</vt:lpstr>
      <vt:lpstr>System Demonstration / Working Model</vt:lpstr>
      <vt:lpstr>EXPERIMENTAL RESULTS</vt:lpstr>
      <vt:lpstr>RESULTS &amp; DISCUSSION</vt:lpstr>
      <vt:lpstr>Innovation &amp; Contribution</vt:lpstr>
      <vt:lpstr>Research Paper Details</vt:lpstr>
      <vt:lpstr>Publication Status</vt:lpstr>
      <vt:lpstr>Limitations of Current System &amp; Challenges Faced</vt:lpstr>
      <vt:lpstr>Applications</vt:lpstr>
      <vt:lpstr>Conclusion &amp; Future Work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 Purohit</cp:lastModifiedBy>
  <cp:revision>21</cp:revision>
  <dcterms:created xsi:type="dcterms:W3CDTF">2013-01-27T09:14:16Z</dcterms:created>
  <dcterms:modified xsi:type="dcterms:W3CDTF">2026-04-25T07:29:45Z</dcterms:modified>
  <cp:category/>
</cp:coreProperties>
</file>